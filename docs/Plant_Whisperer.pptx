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2A43"/>
                </a:solidFill>
                <a:latin typeface="Calibri"/>
              </a:rPr>
              <a:t>Hardware cost by item (INR, approx.)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(INR)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₹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ESP32 board</c:v>
                  </c:pt>
                  <c:pt idx="1">
                    <c:v>Breadboard + wires</c:v>
                  </c:pt>
                  <c:pt idx="2">
                    <c:v>DHT11</c:v>
                  </c:pt>
                  <c:pt idx="3">
                    <c:v>Soil sensor</c:v>
                  </c:pt>
                  <c:pt idx="4">
                    <c:v>LDR + resistor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</c:v>
                </c:pt>
                <c:pt idx="1">
                  <c:v>150</c:v>
                </c:pt>
                <c:pt idx="2">
                  <c:v>120</c:v>
                </c:pt>
                <c:pt idx="3">
                  <c:v>80</c:v>
                </c:pt>
                <c:pt idx="4">
                  <c:v>30</c:v>
                </c:pt>
              </c:numCache>
            </c:numRef>
          </c:val>
        </c:ser>
        <c:dLbls>
          <c:numFmt formatCode="₹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2A43"/>
                </a:solidFill>
                <a:latin typeface="Calibri"/>
              </a:rPr>
              <a:t>Hours to dry vs temperature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to dry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15°C</c:v>
                  </c:pt>
                  <c:pt idx="1">
                    <c:v>20°C</c:v>
                  </c:pt>
                  <c:pt idx="2">
                    <c:v>25°C</c:v>
                  </c:pt>
                  <c:pt idx="3">
                    <c:v>30°C</c:v>
                  </c:pt>
                  <c:pt idx="4">
                    <c:v>35°C</c:v>
                  </c:pt>
                  <c:pt idx="5">
                    <c:v>40°C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38.9</c:v>
                </c:pt>
                <c:pt idx="1">
                  <c:v>28</c:v>
                </c:pt>
                <c:pt idx="2">
                  <c:v>21.9</c:v>
                </c:pt>
                <c:pt idx="3">
                  <c:v>17.9</c:v>
                </c:pt>
                <c:pt idx="4">
                  <c:v>15.2</c:v>
                </c:pt>
                <c:pt idx="5">
                  <c:v>13.2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914400"/>
            <a:ext cx="3291840" cy="329184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2A4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1691640"/>
            <a:ext cx="1737360" cy="17373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2125980"/>
            <a:ext cx="868680" cy="868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57216" y="1371600"/>
            <a:ext cx="731520" cy="731520"/>
          </a:xfrm>
          <a:prstGeom prst="ellipse">
            <a:avLst/>
          </a:prstGeom>
          <a:solidFill>
            <a:srgbClr val="1B4568"/>
          </a:solidFill>
          <a:ln w="12700">
            <a:solidFill>
              <a:srgbClr val="1B4568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554480"/>
            <a:ext cx="365760" cy="365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10144" y="1371600"/>
            <a:ext cx="731520" cy="731520"/>
          </a:xfrm>
          <a:prstGeom prst="ellipse">
            <a:avLst/>
          </a:prstGeom>
          <a:solidFill>
            <a:srgbClr val="1B4568"/>
          </a:solidFill>
          <a:ln w="12700">
            <a:solidFill>
              <a:srgbClr val="1B456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554480"/>
            <a:ext cx="365760" cy="3657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583680" y="3840480"/>
            <a:ext cx="731520" cy="731520"/>
          </a:xfrm>
          <a:prstGeom prst="ellipse">
            <a:avLst/>
          </a:prstGeom>
          <a:solidFill>
            <a:srgbClr val="1B4568"/>
          </a:solidFill>
          <a:ln w="12700">
            <a:solidFill>
              <a:srgbClr val="1B4568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02336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31520" y="1371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Whisperer</a:t>
            </a:r>
            <a:endParaRPr lang="en-US" sz="4000" dirty="0"/>
          </a:p>
        </p:txBody>
      </p:sp>
      <p:sp>
        <p:nvSpPr>
          <p:cNvPr id="12" name="Text 6"/>
          <p:cNvSpPr txBox="1"/>
          <p:nvPr/>
        </p:nvSpPr>
        <p:spPr>
          <a:xfrm>
            <a:off x="731520" y="2514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 that senses, predicts and talks back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73152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 •  Deep Neural Network  •  Generative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plants need a voice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20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are over- or under-watered because the signs show up late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803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numbers mean little to most people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474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ignore heat, light and humidity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37760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937760" y="196596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1031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23560" y="1920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measure the environment continuously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937760" y="27432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88036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623560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DNN predicts the hours until the soil is dry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937760" y="352044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65760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623560" y="3474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turns it into a clear, friendly message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822960" cy="822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6687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DHT11 and LDR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64208" y="1874520"/>
            <a:ext cx="731520" cy="0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468880" y="1463040"/>
            <a:ext cx="822960" cy="822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0" y="16687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4028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24028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sends JSON over WiFi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55848" y="1874520"/>
            <a:ext cx="731520" cy="0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6687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3192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server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93192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Keras predicts hours to dry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47488" y="1874520"/>
            <a:ext cx="731520" cy="0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852160" y="1463040"/>
            <a:ext cx="822960" cy="822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166878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2356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62356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plant's voice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739128" y="1874520"/>
            <a:ext cx="731520" cy="0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543800" y="1463040"/>
            <a:ext cx="822960" cy="8229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540" y="166878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15200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315200" y="2788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on mood change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" y="3611880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48640" y="3611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layer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931920" y="361188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3931920" y="36118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layer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623560" y="3611880"/>
            <a:ext cx="2971800" cy="384048"/>
          </a:xfrm>
          <a:prstGeom prst="roundRect">
            <a:avLst>
              <a:gd name="adj" fmla="val 2381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623560" y="3611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layer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DNN decides what is happening. The GenAI explains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 and wiring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316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51760" y="1645920"/>
            <a:ext cx="1005840" cy="0"/>
          </a:xfrm>
          <a:prstGeom prst="line">
            <a:avLst/>
          </a:prstGeom>
          <a:noFill/>
          <a:ln w="28575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2697480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GPIO34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917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2402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651760" y="2606040"/>
            <a:ext cx="1005840" cy="0"/>
          </a:xfrm>
          <a:prstGeom prst="line">
            <a:avLst/>
          </a:prstGeom>
          <a:noFill/>
          <a:ln w="28575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2697480" y="2350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GPIO4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518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32004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+ 10k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651760" y="3566160"/>
            <a:ext cx="1005840" cy="0"/>
          </a:xfrm>
          <a:prstGeom prst="line">
            <a:avLst/>
          </a:prstGeom>
          <a:noFill/>
          <a:ln w="28575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2697480" y="3310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GPIO35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0" y="1280160"/>
            <a:ext cx="1554480" cy="2651760"/>
          </a:xfrm>
          <a:prstGeom prst="roundRect">
            <a:avLst>
              <a:gd name="adj" fmla="val 4706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069080" y="1920240"/>
            <a:ext cx="731520" cy="7315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031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6576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365760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logic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577840" y="1280160"/>
            <a:ext cx="3017520" cy="2651760"/>
          </a:xfrm>
          <a:prstGeom prst="roundRect">
            <a:avLst>
              <a:gd name="adj" fmla="val 2759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85216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852160" y="187452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board  ₹450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sensor  ₹80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 ₹120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+ resistor  ₹30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+ wires  ₹150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about ₹830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rough estimates and vary by seller. No soldering or custom PCB needed.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budget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4206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and services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00200"/>
          <a:ext cx="3566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Colab (training)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Flask, Keras,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 Bot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(LLM)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Usage-based, small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97764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about ₹830 in hardware. Software is free apart from small pay-per-use LLM charges.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DNN: predicting time to dry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1371600" y="1508760"/>
            <a:ext cx="1005840" cy="457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554480"/>
            <a:ext cx="1005840" cy="4114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554480"/>
            <a:ext cx="1005840" cy="8686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554480"/>
            <a:ext cx="1005840" cy="13258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554480"/>
            <a:ext cx="1005840" cy="17830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554480"/>
            <a:ext cx="1005840" cy="22402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371600" y="1508760"/>
            <a:ext cx="1005840" cy="59436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371600" y="1965960"/>
            <a:ext cx="1005840" cy="13716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1005840" cy="3200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103120"/>
            <a:ext cx="1005840" cy="7772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103120"/>
            <a:ext cx="1005840" cy="12344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103120"/>
            <a:ext cx="1005840" cy="16916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371600" y="1508760"/>
            <a:ext cx="1005840" cy="114300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371600" y="1965960"/>
            <a:ext cx="1005840" cy="68580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371600" y="2423160"/>
            <a:ext cx="1005840" cy="22860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651760"/>
            <a:ext cx="1005840" cy="22860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651760"/>
            <a:ext cx="1005840" cy="68580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651760"/>
            <a:ext cx="1005840" cy="114300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371600" y="1508760"/>
            <a:ext cx="1005840" cy="16916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371600" y="1965960"/>
            <a:ext cx="1005840" cy="12344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371600" y="2423160"/>
            <a:ext cx="1005840" cy="7772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371600" y="2880360"/>
            <a:ext cx="1005840" cy="3200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3200400"/>
            <a:ext cx="1005840" cy="13716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200400"/>
            <a:ext cx="1005840" cy="59436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371600" y="1508760"/>
            <a:ext cx="1005840" cy="22402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371600" y="1965960"/>
            <a:ext cx="1005840" cy="17830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371600" y="2423160"/>
            <a:ext cx="1005840" cy="13258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371600" y="2880360"/>
            <a:ext cx="1005840" cy="8686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371600" y="3337560"/>
            <a:ext cx="1005840" cy="4114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3749040"/>
            <a:ext cx="1005840" cy="457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1508760"/>
            <a:ext cx="1005840" cy="1828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1508760"/>
            <a:ext cx="1005840" cy="82296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1508760"/>
            <a:ext cx="1005840" cy="14630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1508760"/>
            <a:ext cx="1005840" cy="21031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377440" y="1691640"/>
            <a:ext cx="1005840" cy="2743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1965960"/>
            <a:ext cx="1005840" cy="36576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1965960"/>
            <a:ext cx="1005840" cy="10058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1965960"/>
            <a:ext cx="1005840" cy="16459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2377440" y="1691640"/>
            <a:ext cx="1005840" cy="7315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2377440" y="2331720"/>
            <a:ext cx="1005840" cy="914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2423160"/>
            <a:ext cx="1005840" cy="5486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2423160"/>
            <a:ext cx="1005840" cy="11887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2377440" y="1691640"/>
            <a:ext cx="1005840" cy="11887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377440" y="2331720"/>
            <a:ext cx="1005840" cy="5486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77440" y="2880360"/>
            <a:ext cx="1005840" cy="914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2880360"/>
            <a:ext cx="1005840" cy="7315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2377440" y="1691640"/>
            <a:ext cx="1005840" cy="16459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2377440" y="2331720"/>
            <a:ext cx="1005840" cy="10058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2377440" y="2971800"/>
            <a:ext cx="1005840" cy="36576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3337560"/>
            <a:ext cx="1005840" cy="2743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2377440" y="1691640"/>
            <a:ext cx="1005840" cy="21031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2377440" y="2331720"/>
            <a:ext cx="1005840" cy="14630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2377440" y="2971800"/>
            <a:ext cx="1005840" cy="82296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2377440" y="3611880"/>
            <a:ext cx="1005840" cy="18288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83280" y="1691640"/>
            <a:ext cx="1005840" cy="9601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0" y="2331720"/>
            <a:ext cx="1005840" cy="3200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3383280" y="2651760"/>
            <a:ext cx="1005840" cy="32004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3383280" y="2651760"/>
            <a:ext cx="1005840" cy="960120"/>
          </a:xfrm>
          <a:prstGeom prst="line">
            <a:avLst/>
          </a:prstGeom>
          <a:noFill/>
          <a:ln w="6350">
            <a:solidFill>
              <a:srgbClr val="C9D3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43584" y="1426464"/>
            <a:ext cx="256032" cy="25603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43584" y="1975104"/>
            <a:ext cx="256032" cy="25603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243584" y="2523744"/>
            <a:ext cx="256032" cy="25603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43584" y="3072384"/>
            <a:ext cx="256032" cy="25603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43584" y="3621024"/>
            <a:ext cx="256032" cy="25603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49424" y="138074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49424" y="183794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49424" y="229514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49424" y="275234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49424" y="320954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49424" y="366674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55264" y="156362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55264" y="220370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55264" y="284378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55264" y="3483864"/>
            <a:ext cx="256032" cy="256032"/>
          </a:xfrm>
          <a:prstGeom prst="ellipse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61104" y="2523744"/>
            <a:ext cx="256032" cy="25603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20040" y="14447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%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320040" y="1993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320040" y="2542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320040" y="30906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%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320040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rate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868680" y="3977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(5)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1874520" y="3977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2880360" y="3977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16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3886200" y="3977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dry</a:t>
            </a:r>
            <a:endParaRPr lang="en-US" sz="1000" dirty="0"/>
          </a:p>
        </p:txBody>
      </p:sp>
      <p:graphicFrame>
        <p:nvGraphicFramePr>
          <p:cNvPr id="86" name="Chart 0" descr=""/>
          <p:cNvGraphicFramePr/>
          <p:nvPr/>
        </p:nvGraphicFramePr>
        <p:xfrm>
          <a:off x="5029200" y="1188720"/>
          <a:ext cx="35661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7" name="Text 84"/>
          <p:cNvSpPr txBox="1"/>
          <p:nvPr/>
        </p:nvSpPr>
        <p:spPr>
          <a:xfrm>
            <a:off x="502920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synthetic drying model: soil 60%, light 50%, humidity 50%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GenAI layer: giving the plant a voice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401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859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08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Thirsty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below 25%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4917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374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4597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25% to 80%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3832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5433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890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511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Drowning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above 80%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114800" y="1280160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F4F7F9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434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message (illustrative)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297680" y="182880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434840" y="1828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is at 22%. The DNN says I will be crispy in about 3 hours. Water me, human.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120640" y="2834640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25780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watered you. How do you feel?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297680" y="352044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43484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Finally. I forgive you.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written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487168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2432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44144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trained, validation error about 0.7 h on synthetic data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145536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8269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09981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Claude and Telegram pipeline working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22960" y="3803904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4106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08760" y="3758184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simulator drives the live demo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63440" y="118872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3776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937760" y="18288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96596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623560" y="1783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sensors and wiring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937760" y="265176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78892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623560" y="2606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soil and light readings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4937760" y="347472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61188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623560" y="3429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DNN on real logged data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IoT, DNN and GenAI pipeline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889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606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pipeline complete; hardware build is about ₹830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47472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1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429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distinct, real job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3776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937760" y="18288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9659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23560" y="1783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DNN on real logged data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937760" y="265176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7889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623560" y="2606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 LSTM on time-series readings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937760" y="347472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61188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623560" y="3429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pump for automatic watering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2026-09-30T04:18:31Z</dcterms:created>
  <dcterms:modified xsi:type="dcterms:W3CDTF">2026-09-30T04:18:31Z</dcterms:modified>
</cp:coreProperties>
</file>